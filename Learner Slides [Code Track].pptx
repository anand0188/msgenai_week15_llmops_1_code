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5"/>
    <p:sldMasterId id="2147483685" r:id="rId6"/>
    <p:sldMasterId id="2147483686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</p:sldIdLst>
  <p:sldSz cy="5143500" cx="9144000"/>
  <p:notesSz cx="6858000" cy="9144000"/>
  <p:embeddedFontLst>
    <p:embeddedFont>
      <p:font typeface="Nunito SemiBold"/>
      <p:regular r:id="rId44"/>
      <p:bold r:id="rId45"/>
      <p:italic r:id="rId46"/>
      <p:boldItalic r:id="rId47"/>
    </p:embeddedFont>
    <p:embeddedFont>
      <p:font typeface="Nunito"/>
      <p:regular r:id="rId48"/>
      <p:bold r:id="rId49"/>
      <p:italic r:id="rId50"/>
      <p:boldItalic r:id="rId51"/>
    </p:embeddedFont>
    <p:embeddedFont>
      <p:font typeface="Montserrat"/>
      <p:regular r:id="rId52"/>
      <p:bold r:id="rId53"/>
      <p:italic r:id="rId54"/>
      <p:boldItalic r:id="rId55"/>
    </p:embeddedFont>
    <p:embeddedFont>
      <p:font typeface="Montserrat Medium"/>
      <p:regular r:id="rId56"/>
      <p:bold r:id="rId57"/>
      <p:italic r:id="rId58"/>
      <p:boldItalic r:id="rId59"/>
    </p:embeddedFont>
    <p:embeddedFont>
      <p:font typeface="Nunito ExtraBold"/>
      <p:bold r:id="rId60"/>
      <p:boldItalic r:id="rId61"/>
    </p:embeddedFont>
    <p:embeddedFont>
      <p:font typeface="Nunito Medium"/>
      <p:regular r:id="rId62"/>
      <p:bold r:id="rId63"/>
      <p:italic r:id="rId64"/>
      <p:boldItalic r:id="rId65"/>
    </p:embeddedFont>
    <p:embeddedFont>
      <p:font typeface="Century Gothic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143288-809D-40E6-B21C-5C0D959D3583}">
  <a:tblStyle styleId="{07143288-809D-40E6-B21C-5C0D959D358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font" Target="fonts/NunitoSemiBold-regular.fntdata"/><Relationship Id="rId43" Type="http://schemas.openxmlformats.org/officeDocument/2006/relationships/slide" Target="slides/slide35.xml"/><Relationship Id="rId46" Type="http://schemas.openxmlformats.org/officeDocument/2006/relationships/font" Target="fonts/NunitoSemiBold-italic.fntdata"/><Relationship Id="rId45" Type="http://schemas.openxmlformats.org/officeDocument/2006/relationships/font" Target="fonts/NunitoSemiBold-bold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font" Target="fonts/Nunito-regular.fntdata"/><Relationship Id="rId47" Type="http://schemas.openxmlformats.org/officeDocument/2006/relationships/font" Target="fonts/NunitoSemiBold-boldItalic.fntdata"/><Relationship Id="rId49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font" Target="fonts/NunitoMedium-regular.fntdata"/><Relationship Id="rId61" Type="http://schemas.openxmlformats.org/officeDocument/2006/relationships/font" Target="fonts/NunitoExtraBold-boldItalic.fntdata"/><Relationship Id="rId20" Type="http://schemas.openxmlformats.org/officeDocument/2006/relationships/slide" Target="slides/slide12.xml"/><Relationship Id="rId64" Type="http://schemas.openxmlformats.org/officeDocument/2006/relationships/font" Target="fonts/NunitoMedium-italic.fntdata"/><Relationship Id="rId63" Type="http://schemas.openxmlformats.org/officeDocument/2006/relationships/font" Target="fonts/NunitoMedium-bold.fntdata"/><Relationship Id="rId22" Type="http://schemas.openxmlformats.org/officeDocument/2006/relationships/slide" Target="slides/slide14.xml"/><Relationship Id="rId66" Type="http://schemas.openxmlformats.org/officeDocument/2006/relationships/font" Target="fonts/CenturyGothic-regular.fntdata"/><Relationship Id="rId21" Type="http://schemas.openxmlformats.org/officeDocument/2006/relationships/slide" Target="slides/slide13.xml"/><Relationship Id="rId65" Type="http://schemas.openxmlformats.org/officeDocument/2006/relationships/font" Target="fonts/NunitoMedium-boldItalic.fntdata"/><Relationship Id="rId24" Type="http://schemas.openxmlformats.org/officeDocument/2006/relationships/slide" Target="slides/slide16.xml"/><Relationship Id="rId68" Type="http://schemas.openxmlformats.org/officeDocument/2006/relationships/font" Target="fonts/CenturyGothic-italic.fntdata"/><Relationship Id="rId23" Type="http://schemas.openxmlformats.org/officeDocument/2006/relationships/slide" Target="slides/slide15.xml"/><Relationship Id="rId67" Type="http://schemas.openxmlformats.org/officeDocument/2006/relationships/font" Target="fonts/CenturyGothic-bold.fntdata"/><Relationship Id="rId60" Type="http://schemas.openxmlformats.org/officeDocument/2006/relationships/font" Target="fonts/NunitoExtraBold-bold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CenturyGothic-bold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Nunito-boldItalic.fntdata"/><Relationship Id="rId50" Type="http://schemas.openxmlformats.org/officeDocument/2006/relationships/font" Target="fonts/Nunito-italic.fntdata"/><Relationship Id="rId53" Type="http://schemas.openxmlformats.org/officeDocument/2006/relationships/font" Target="fonts/Montserrat-bold.fntdata"/><Relationship Id="rId52" Type="http://schemas.openxmlformats.org/officeDocument/2006/relationships/font" Target="fonts/Montserrat-regular.fntdata"/><Relationship Id="rId11" Type="http://schemas.openxmlformats.org/officeDocument/2006/relationships/slide" Target="slides/slide3.xml"/><Relationship Id="rId55" Type="http://schemas.openxmlformats.org/officeDocument/2006/relationships/font" Target="fonts/Montserrat-boldItalic.fntdata"/><Relationship Id="rId10" Type="http://schemas.openxmlformats.org/officeDocument/2006/relationships/slide" Target="slides/slide2.xml"/><Relationship Id="rId54" Type="http://schemas.openxmlformats.org/officeDocument/2006/relationships/font" Target="fonts/Montserrat-italic.fntdata"/><Relationship Id="rId13" Type="http://schemas.openxmlformats.org/officeDocument/2006/relationships/slide" Target="slides/slide5.xml"/><Relationship Id="rId57" Type="http://schemas.openxmlformats.org/officeDocument/2006/relationships/font" Target="fonts/MontserratMedium-bold.fntdata"/><Relationship Id="rId12" Type="http://schemas.openxmlformats.org/officeDocument/2006/relationships/slide" Target="slides/slide4.xml"/><Relationship Id="rId56" Type="http://schemas.openxmlformats.org/officeDocument/2006/relationships/font" Target="fonts/MontserratMedium-regular.fntdata"/><Relationship Id="rId15" Type="http://schemas.openxmlformats.org/officeDocument/2006/relationships/slide" Target="slides/slide7.xml"/><Relationship Id="rId59" Type="http://schemas.openxmlformats.org/officeDocument/2006/relationships/font" Target="fonts/MontserratMedium-boldItalic.fntdata"/><Relationship Id="rId14" Type="http://schemas.openxmlformats.org/officeDocument/2006/relationships/slide" Target="slides/slide6.xml"/><Relationship Id="rId58" Type="http://schemas.openxmlformats.org/officeDocument/2006/relationships/font" Target="fonts/MontserratMedium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868d8167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9868d8167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34c064de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34c064de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b0d0e63e7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b0d0e63e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3a6d13d8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b3a6d13d8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d3bb7b048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d3bb7b04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d3bb7b04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d3bb7b04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d3bb7b048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d3bb7b048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d3bb7b048_0_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d3bb7b048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d3bb7b048_0_81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d3bb7b048_0_8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d3bb7b048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bd3bb7b048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d3bb7b048_0_88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d3bb7b048_0_88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d3bb7b048_0_1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bd3bb7b048_0_1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bd3bb7b048_0_1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bd3bb7b048_0_1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d4848664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d4848664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d3bb7b048_0_1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bd3bb7b048_0_1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d4848664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bd4848664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d4848664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bd4848664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d3bb7b048_0_1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bd3bb7b048_0_1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d48486645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d48486645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d3bb7b048_0_2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g3bd3bb7b048_0_2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d48486645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bd48486645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bd3bb7b048_0_2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bd3bb7b048_0_2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d48486645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bd48486645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d3bb7b048_0_1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bd3bb7b048_0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d3bb7b048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bd3bb7b048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d3bb7b048_0_9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bd3bb7b048_0_9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bd3bb7b048_0_2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bd3bb7b048_0_2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d3bb7b048_0_2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bd3bb7b048_0_2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bd3bb7b048_0_2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bd3bb7b048_0_2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bd3bb7b048_0_2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bd3bb7b048_0_2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bd3bb7b048_0_2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bd3bb7b048_0_2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d3bb7b048_0_2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bd3bb7b048_0_2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d48486645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bd4848664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d48486645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bd4848664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34c064def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3" name="Google Shape;433;g3b34c064def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b34c064def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b34c064def_0_61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36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3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33" name="Google Shape;33;p6"/>
          <p:cNvPicPr preferRelativeResize="0"/>
          <p:nvPr/>
        </p:nvPicPr>
        <p:blipFill rotWithShape="1">
          <a:blip r:embed="rId2">
            <a:alphaModFix/>
          </a:blip>
          <a:srcRect b="19147" l="42813" r="37295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36" name="Google Shape;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42" name="Google Shape;42;p8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{07143288-809D-40E6-B21C-5C0D959D3583}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69500" y="68263"/>
            <a:ext cx="1395475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6"/>
          <p:cNvSpPr/>
          <p:nvPr/>
        </p:nvSpPr>
        <p:spPr>
          <a:xfrm>
            <a:off x="6593" y="8"/>
            <a:ext cx="175895" cy="355600"/>
          </a:xfrm>
          <a:custGeom>
            <a:rect b="b" l="l" r="r" t="t"/>
            <a:pathLst>
              <a:path extrusionOk="0" h="355600" w="175895">
                <a:moveTo>
                  <a:pt x="175498" y="355498"/>
                </a:moveTo>
                <a:lnTo>
                  <a:pt x="0" y="355498"/>
                </a:lnTo>
                <a:lnTo>
                  <a:pt x="0" y="0"/>
                </a:lnTo>
                <a:lnTo>
                  <a:pt x="175498" y="0"/>
                </a:lnTo>
                <a:lnTo>
                  <a:pt x="175498" y="355498"/>
                </a:lnTo>
                <a:close/>
              </a:path>
            </a:pathLst>
          </a:custGeom>
          <a:solidFill>
            <a:srgbClr val="0D37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6593" y="353729"/>
            <a:ext cx="175895" cy="355600"/>
          </a:xfrm>
          <a:custGeom>
            <a:rect b="b" l="l" r="r" t="t"/>
            <a:pathLst>
              <a:path extrusionOk="0" h="355600" w="175895">
                <a:moveTo>
                  <a:pt x="175498" y="355498"/>
                </a:moveTo>
                <a:lnTo>
                  <a:pt x="0" y="355498"/>
                </a:lnTo>
                <a:lnTo>
                  <a:pt x="0" y="0"/>
                </a:lnTo>
                <a:lnTo>
                  <a:pt x="175498" y="0"/>
                </a:lnTo>
                <a:lnTo>
                  <a:pt x="175498" y="355498"/>
                </a:lnTo>
                <a:close/>
              </a:path>
            </a:pathLst>
          </a:custGeom>
          <a:solidFill>
            <a:srgbClr val="1973D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6"/>
          <p:cNvSpPr txBox="1"/>
          <p:nvPr>
            <p:ph type="title"/>
          </p:nvPr>
        </p:nvSpPr>
        <p:spPr>
          <a:xfrm>
            <a:off x="456250" y="211482"/>
            <a:ext cx="60141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100">
                <a:solidFill>
                  <a:srgbClr val="0F3EA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1" type="ftr"/>
          </p:nvPr>
        </p:nvSpPr>
        <p:spPr>
          <a:xfrm>
            <a:off x="2249349" y="4947990"/>
            <a:ext cx="45786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7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18" name="Google Shape;118;p27"/>
          <p:cNvPicPr preferRelativeResize="0"/>
          <p:nvPr/>
        </p:nvPicPr>
        <p:blipFill rotWithShape="1">
          <a:blip r:embed="rId2">
            <a:alphaModFix/>
          </a:blip>
          <a:srcRect b="19152" l="42816" r="37296" t="18359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27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1" name="Google Shape;12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8" name="Google Shape;128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9" name="Google Shape;12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6" name="Google Shape;13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0" name="Google Shape;140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1" name="Google Shape;14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" name="Google Shape;14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7" name="Google Shape;147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8" name="Google Shape;14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1" name="Google Shape;15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5" name="Google Shape;155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6" name="Google Shape;156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7" name="Google Shape;15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60" name="Google Shape;16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3" name="Google Shape;163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4" name="Google Shape;16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0"/>
          <p:cNvSpPr/>
          <p:nvPr/>
        </p:nvSpPr>
        <p:spPr>
          <a:xfrm>
            <a:off x="77700" y="2163300"/>
            <a:ext cx="8988600" cy="953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0F3FA8"/>
                </a:solidFill>
                <a:latin typeface="Montserrat"/>
                <a:ea typeface="Montserrat"/>
                <a:cs typeface="Montserrat"/>
                <a:sym typeface="Montserrat"/>
              </a:rPr>
              <a:t>Project 3 - Travel RAG Chatbot Project</a:t>
            </a:r>
            <a:endParaRPr b="1" sz="2700">
              <a:solidFill>
                <a:srgbClr val="0F3FA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F3FA8"/>
                </a:solidFill>
                <a:latin typeface="Montserrat"/>
                <a:ea typeface="Montserrat"/>
                <a:cs typeface="Montserrat"/>
                <a:sym typeface="Montserrat"/>
              </a:rPr>
              <a:t>AI-Powered Travel Assistant with Governance &amp; LLMOps</a:t>
            </a:r>
            <a:endParaRPr b="1" sz="1600">
              <a:solidFill>
                <a:srgbClr val="0F3F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 txBox="1"/>
          <p:nvPr>
            <p:ph idx="1" type="body"/>
          </p:nvPr>
        </p:nvSpPr>
        <p:spPr>
          <a:xfrm>
            <a:off x="202550" y="861975"/>
            <a:ext cx="8629800" cy="3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Ground rules for setting up an Azure Resources for this project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Utilize the default resource group for all your tasks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NOTE</a:t>
            </a:r>
            <a:r>
              <a:rPr lang="en" sz="1400">
                <a:solidFill>
                  <a:schemeClr val="dk1"/>
                </a:solidFill>
              </a:rPr>
              <a:t>: To optimize resource management, use the existing resource group i.e default_resource_group for all tasks in the project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Avoid creating multiple resources and resource groups to ensure consistency, simplify monitoring, and reduce overhead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Select Region </a:t>
            </a:r>
            <a:r>
              <a:rPr lang="en" sz="1400">
                <a:solidFill>
                  <a:srgbClr val="FF0000"/>
                </a:solidFill>
              </a:rPr>
              <a:t>= East US </a:t>
            </a:r>
            <a:r>
              <a:rPr lang="en" sz="1400">
                <a:solidFill>
                  <a:schemeClr val="dk1"/>
                </a:solidFill>
              </a:rPr>
              <a:t>for the Azure AI Foundry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Pricing tier: </a:t>
            </a:r>
            <a:r>
              <a:rPr lang="en" sz="1400">
                <a:solidFill>
                  <a:srgbClr val="FF0000"/>
                </a:solidFill>
              </a:rPr>
              <a:t>Standard S0</a:t>
            </a:r>
            <a:r>
              <a:rPr lang="en" sz="1400">
                <a:solidFill>
                  <a:schemeClr val="dk1"/>
                </a:solidFill>
              </a:rPr>
              <a:t> pricing tier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If </a:t>
            </a:r>
            <a:r>
              <a:rPr b="1" lang="en" sz="1400">
                <a:solidFill>
                  <a:schemeClr val="dk1"/>
                </a:solidFill>
              </a:rPr>
              <a:t>Azure AI Foundry</a:t>
            </a:r>
            <a:r>
              <a:rPr lang="en" sz="1400">
                <a:solidFill>
                  <a:schemeClr val="dk1"/>
                </a:solidFill>
              </a:rPr>
              <a:t> has already been deployed, the setup process for it can be skipped, and the focus can shift directly to deploying the model(s)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rgbClr val="FF0000"/>
                </a:solidFill>
              </a:rPr>
              <a:t>Allow 10 to 15 minutes </a:t>
            </a:r>
            <a:r>
              <a:rPr lang="en" sz="1400">
                <a:solidFill>
                  <a:schemeClr val="dk1"/>
                </a:solidFill>
              </a:rPr>
              <a:t>for resources to become fully operational following its creation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77" name="Google Shape;177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E39A9"/>
                </a:solidFill>
              </a:rPr>
              <a:t>Ground Rules : Important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>
            <p:ph idx="1" type="body"/>
          </p:nvPr>
        </p:nvSpPr>
        <p:spPr>
          <a:xfrm>
            <a:off x="202550" y="861975"/>
            <a:ext cx="8629800" cy="3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All screenshots should be clear, high-quality, and legible, ensuring that details are easily visible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Wherever applicable, the learner's account details should be visible to verify ownership and authenticity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rgbClr val="FF0000"/>
                </a:solidFill>
              </a:rPr>
              <a:t>Red boxes </a:t>
            </a:r>
            <a:r>
              <a:rPr lang="en" sz="1400">
                <a:solidFill>
                  <a:schemeClr val="dk1"/>
                </a:solidFill>
              </a:rPr>
              <a:t>should be correctly placed to highlight the key steps in each screenshot, ensuring clarity and guiding the viewer through the process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The overall structure and logical flow of the process must be maintained by placing each screenshot under the appropriate slide headers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Learners should avoid skipping steps or presenting them in an incorrect order, as this can disrupt the coherence of the submission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3" name="Google Shape;183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E39A9"/>
                </a:solidFill>
              </a:rPr>
              <a:t>Instructions </a:t>
            </a:r>
            <a:endParaRPr sz="1800">
              <a:solidFill>
                <a:srgbClr val="0E39A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43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190" name="Google Shape;190;p43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3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" name="Google Shape;192;p43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87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  Step 1: </a:t>
            </a:r>
            <a:r>
              <a:rPr b="1" i="0" lang="en" sz="2600" u="none" cap="none" strike="noStrike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Define Business context and objective</a:t>
            </a:r>
            <a:endParaRPr b="1" i="0" sz="2600" u="none" cap="none" strike="noStrike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E39A9"/>
                </a:solidFill>
              </a:rPr>
              <a:t>1.1 Problem Statement</a:t>
            </a:r>
            <a:endParaRPr/>
          </a:p>
        </p:txBody>
      </p:sp>
      <p:sp>
        <p:nvSpPr>
          <p:cNvPr id="199" name="Google Shape;199;p44"/>
          <p:cNvSpPr txBox="1"/>
          <p:nvPr/>
        </p:nvSpPr>
        <p:spPr>
          <a:xfrm>
            <a:off x="2710950" y="2371650"/>
            <a:ext cx="372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Write the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problem statement 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here</a:t>
            </a:r>
            <a:r>
              <a:rPr b="0" i="0" lang="en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E39A9"/>
                </a:solidFill>
              </a:rPr>
              <a:t>1.2 Business Context</a:t>
            </a:r>
            <a:endParaRPr/>
          </a:p>
        </p:txBody>
      </p:sp>
      <p:sp>
        <p:nvSpPr>
          <p:cNvPr id="205" name="Google Shape;205;p45"/>
          <p:cNvSpPr txBox="1"/>
          <p:nvPr/>
        </p:nvSpPr>
        <p:spPr>
          <a:xfrm>
            <a:off x="2975100" y="2371650"/>
            <a:ext cx="31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Write the business context here</a:t>
            </a:r>
            <a:r>
              <a:rPr b="0" i="0" lang="en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E39A9"/>
                </a:solidFill>
              </a:rPr>
              <a:t>1.3 Data Description</a:t>
            </a:r>
            <a:endParaRPr/>
          </a:p>
        </p:txBody>
      </p:sp>
      <p:sp>
        <p:nvSpPr>
          <p:cNvPr id="211" name="Google Shape;211;p46"/>
          <p:cNvSpPr txBox="1"/>
          <p:nvPr/>
        </p:nvSpPr>
        <p:spPr>
          <a:xfrm>
            <a:off x="2786700" y="2288375"/>
            <a:ext cx="35706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Write the data description here</a:t>
            </a:r>
            <a:r>
              <a:rPr b="0" i="0" lang="en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(Put the screenshot of the data here)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E39A9"/>
                </a:solidFill>
              </a:rPr>
              <a:t>1.4 Data Source</a:t>
            </a:r>
            <a:endParaRPr/>
          </a:p>
        </p:txBody>
      </p:sp>
      <p:sp>
        <p:nvSpPr>
          <p:cNvPr id="217" name="Google Shape;217;p47"/>
          <p:cNvSpPr txBox="1"/>
          <p:nvPr/>
        </p:nvSpPr>
        <p:spPr>
          <a:xfrm>
            <a:off x="2908200" y="2371650"/>
            <a:ext cx="33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Write the data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source details 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here</a:t>
            </a:r>
            <a:r>
              <a:rPr b="0" i="0" lang="en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F3EA8"/>
                </a:solidFill>
              </a:rPr>
              <a:t>1.5 Solution methodology</a:t>
            </a:r>
            <a:endParaRPr sz="1800">
              <a:solidFill>
                <a:srgbClr val="0F3EA8"/>
              </a:solidFill>
            </a:endParaRPr>
          </a:p>
        </p:txBody>
      </p:sp>
      <p:sp>
        <p:nvSpPr>
          <p:cNvPr id="223" name="Google Shape;223;p48"/>
          <p:cNvSpPr txBox="1"/>
          <p:nvPr/>
        </p:nvSpPr>
        <p:spPr>
          <a:xfrm>
            <a:off x="2776350" y="2371650"/>
            <a:ext cx="359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Write the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solution methodology 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here</a:t>
            </a:r>
            <a:r>
              <a:rPr b="0" i="0" lang="en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49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230" name="Google Shape;230;p49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49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49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87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9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Step 2: </a:t>
            </a:r>
            <a:r>
              <a:rPr b="1" lang="en" sz="2600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Provision Azure Resources</a:t>
            </a:r>
            <a:endParaRPr b="1" sz="2600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F3EA8"/>
                </a:solidFill>
              </a:rPr>
              <a:t>Azure Services</a:t>
            </a:r>
            <a:endParaRPr sz="1800">
              <a:solidFill>
                <a:srgbClr val="0F3EA8"/>
              </a:solidFill>
            </a:endParaRPr>
          </a:p>
        </p:txBody>
      </p:sp>
      <p:sp>
        <p:nvSpPr>
          <p:cNvPr id="239" name="Google Shape;239;p50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(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In this section, provide details of the Azure services required for the project and their purpose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51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246" name="Google Shape;246;p51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51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" name="Google Shape;248;p51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87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1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Azure Foundry Service</a:t>
            </a:r>
            <a:endParaRPr b="1" sz="2600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52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256" name="Google Shape;256;p52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52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8" name="Google Shape;258;p52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8732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424242"/>
                </a:solidFill>
              </a:rPr>
              <a:t>Proprietary content. © Great Learning. All Rights Reserved. Unauthorized use or distribution prohibited.</a:t>
            </a:r>
            <a:endParaRPr b="1" sz="700">
              <a:solidFill>
                <a:srgbClr val="434343"/>
              </a:solidFill>
            </a:endParaRPr>
          </a:p>
        </p:txBody>
      </p:sp>
      <p:sp>
        <p:nvSpPr>
          <p:cNvPr id="259" name="Google Shape;259;p52"/>
          <p:cNvSpPr txBox="1"/>
          <p:nvPr/>
        </p:nvSpPr>
        <p:spPr>
          <a:xfrm>
            <a:off x="448125" y="154569"/>
            <a:ext cx="60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0" name="Google Shape;260;p52"/>
          <p:cNvSpPr txBox="1"/>
          <p:nvPr>
            <p:ph idx="4294967295"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F3EA8"/>
                </a:solidFill>
                <a:latin typeface="Nunito"/>
                <a:ea typeface="Nunito"/>
                <a:cs typeface="Nunito"/>
                <a:sym typeface="Nunito"/>
              </a:rPr>
              <a:t>2.1 Azure AI Foundry Resource creation</a:t>
            </a:r>
            <a:endParaRPr b="1" sz="1800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" name="Google Shape;261;p52"/>
          <p:cNvSpPr/>
          <p:nvPr/>
        </p:nvSpPr>
        <p:spPr>
          <a:xfrm>
            <a:off x="1152600" y="1208850"/>
            <a:ext cx="68388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(Put the screenshots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details during Azure AI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F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oundry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R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esource creation here)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p53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268" name="Google Shape;268;p53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53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53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8732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424242"/>
                </a:solidFill>
              </a:rPr>
              <a:t>Proprietary content. © Great Learning. All Rights Reserved. Unauthorized use or distribution prohibited.</a:t>
            </a:r>
            <a:endParaRPr b="1" sz="700">
              <a:solidFill>
                <a:srgbClr val="434343"/>
              </a:solidFill>
            </a:endParaRPr>
          </a:p>
        </p:txBody>
      </p:sp>
      <p:sp>
        <p:nvSpPr>
          <p:cNvPr id="271" name="Google Shape;271;p53"/>
          <p:cNvSpPr/>
          <p:nvPr/>
        </p:nvSpPr>
        <p:spPr>
          <a:xfrm>
            <a:off x="1152600" y="1208850"/>
            <a:ext cx="68388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(Put the screenshot of the Azure AI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F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oundry user interface  here)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2" name="Google Shape;272;p53"/>
          <p:cNvSpPr txBox="1"/>
          <p:nvPr>
            <p:ph idx="4294967295"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F3EA8"/>
                </a:solidFill>
                <a:latin typeface="Nunito"/>
                <a:ea typeface="Nunito"/>
                <a:cs typeface="Nunito"/>
                <a:sym typeface="Nunito"/>
              </a:rPr>
              <a:t>2.2 Azure AI Foundry Interface</a:t>
            </a:r>
            <a:endParaRPr b="1" sz="1800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800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8" name="Google Shape;278;p54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279" name="Google Shape;279;p54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54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1" name="Google Shape;281;p54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87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4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Foundry Model Deployment</a:t>
            </a:r>
            <a:endParaRPr b="1" sz="2600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E39A9"/>
                </a:solidFill>
              </a:rPr>
              <a:t>Model Selection</a:t>
            </a:r>
            <a:endParaRPr/>
          </a:p>
        </p:txBody>
      </p:sp>
      <p:sp>
        <p:nvSpPr>
          <p:cNvPr id="288" name="Google Shape;288;p55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(In this section, provide details of the models used in the project, its function and the reason for selecting the model)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F3EA8"/>
                </a:solidFill>
              </a:rPr>
              <a:t>Model Deployment</a:t>
            </a:r>
            <a:endParaRPr sz="1800">
              <a:solidFill>
                <a:srgbClr val="0F3EA8"/>
              </a:solidFill>
            </a:endParaRPr>
          </a:p>
        </p:txBody>
      </p:sp>
      <p:sp>
        <p:nvSpPr>
          <p:cNvPr id="294" name="Google Shape;294;p56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(Put the screenshot of the model selected in the “models + deployments” section here)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0" name="Google Shape;300;p57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01" name="Google Shape;301;p57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57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57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87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7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Azure AI Search Service Creation</a:t>
            </a:r>
            <a:endParaRPr b="1" sz="2600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0" name="Google Shape;310;p58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11" name="Google Shape;311;p58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58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3" name="Google Shape;313;p58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8732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424242"/>
                </a:solidFill>
              </a:rPr>
              <a:t>Proprietary content. © Great Learning. All Rights Reserved. Unauthorized use or distribution prohibited.</a:t>
            </a:r>
            <a:endParaRPr b="1" sz="700">
              <a:solidFill>
                <a:srgbClr val="434343"/>
              </a:solidFill>
            </a:endParaRPr>
          </a:p>
        </p:txBody>
      </p:sp>
      <p:sp>
        <p:nvSpPr>
          <p:cNvPr id="314" name="Google Shape;314;p58"/>
          <p:cNvSpPr txBox="1"/>
          <p:nvPr/>
        </p:nvSpPr>
        <p:spPr>
          <a:xfrm>
            <a:off x="448125" y="154569"/>
            <a:ext cx="60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5" name="Google Shape;315;p58"/>
          <p:cNvSpPr txBox="1"/>
          <p:nvPr>
            <p:ph idx="4294967295"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F3EA8"/>
                </a:solidFill>
                <a:latin typeface="Nunito"/>
                <a:ea typeface="Nunito"/>
                <a:cs typeface="Nunito"/>
                <a:sym typeface="Nunito"/>
              </a:rPr>
              <a:t>Azure AI Search Resource creation</a:t>
            </a:r>
            <a:endParaRPr b="1" sz="1800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6" name="Google Shape;316;p58"/>
          <p:cNvSpPr/>
          <p:nvPr/>
        </p:nvSpPr>
        <p:spPr>
          <a:xfrm>
            <a:off x="1152600" y="1208850"/>
            <a:ext cx="68388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(Put the screenshots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details during Azure AI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Search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R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esource creation here)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59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23" name="Google Shape;323;p59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59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5" name="Google Shape;325;p59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873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9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Azure Container Registry Service Creation</a:t>
            </a:r>
            <a:endParaRPr b="1" sz="2600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2" name="Google Shape;332;p60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33" name="Google Shape;333;p60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60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60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8732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424242"/>
                </a:solidFill>
              </a:rPr>
              <a:t>Proprietary content. © Great Learning. All Rights Reserved. Unauthorized use or distribution prohibited.</a:t>
            </a:r>
            <a:endParaRPr b="1" sz="700">
              <a:solidFill>
                <a:srgbClr val="434343"/>
              </a:solidFill>
            </a:endParaRPr>
          </a:p>
        </p:txBody>
      </p:sp>
      <p:sp>
        <p:nvSpPr>
          <p:cNvPr id="336" name="Google Shape;336;p60"/>
          <p:cNvSpPr txBox="1"/>
          <p:nvPr/>
        </p:nvSpPr>
        <p:spPr>
          <a:xfrm>
            <a:off x="448125" y="154569"/>
            <a:ext cx="60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7" name="Google Shape;337;p60"/>
          <p:cNvSpPr txBox="1"/>
          <p:nvPr>
            <p:ph idx="4294967295"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F3EA8"/>
                </a:solidFill>
                <a:latin typeface="Nunito"/>
                <a:ea typeface="Nunito"/>
                <a:cs typeface="Nunito"/>
                <a:sym typeface="Nunito"/>
              </a:rPr>
              <a:t>Azure Container Registry service creation</a:t>
            </a:r>
            <a:endParaRPr b="1" sz="1800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8" name="Google Shape;338;p60"/>
          <p:cNvSpPr/>
          <p:nvPr/>
        </p:nvSpPr>
        <p:spPr>
          <a:xfrm>
            <a:off x="1152600" y="1208850"/>
            <a:ext cx="68388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(Put the screenshots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details during Azure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 Container Registry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 R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esource creation here)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1"/>
          <p:cNvSpPr txBox="1"/>
          <p:nvPr>
            <p:ph type="title"/>
          </p:nvPr>
        </p:nvSpPr>
        <p:spPr>
          <a:xfrm>
            <a:off x="311700" y="2285404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0E39A9"/>
                </a:solidFill>
              </a:rPr>
              <a:t>Azure App Services</a:t>
            </a:r>
            <a:endParaRPr sz="2600">
              <a:solidFill>
                <a:srgbClr val="0E39A9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9" name="Google Shape;349;p62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50" name="Google Shape;350;p62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62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" name="Google Shape;352;p62"/>
          <p:cNvSpPr txBox="1"/>
          <p:nvPr/>
        </p:nvSpPr>
        <p:spPr>
          <a:xfrm>
            <a:off x="2249349" y="4947990"/>
            <a:ext cx="45786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00">
            <a:spAutoFit/>
          </a:bodyPr>
          <a:lstStyle/>
          <a:p>
            <a:pPr indent="0" lvl="0" marL="187325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424242"/>
                </a:solidFill>
              </a:rPr>
              <a:t>Proprietary content. © Great Learning. All Rights Reserved. Unauthorized use or distribution prohibited.</a:t>
            </a:r>
            <a:endParaRPr b="1" sz="700">
              <a:solidFill>
                <a:srgbClr val="434343"/>
              </a:solidFill>
            </a:endParaRPr>
          </a:p>
        </p:txBody>
      </p:sp>
      <p:sp>
        <p:nvSpPr>
          <p:cNvPr id="353" name="Google Shape;353;p62"/>
          <p:cNvSpPr txBox="1"/>
          <p:nvPr/>
        </p:nvSpPr>
        <p:spPr>
          <a:xfrm>
            <a:off x="448125" y="154569"/>
            <a:ext cx="601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4" name="Google Shape;354;p62"/>
          <p:cNvSpPr txBox="1"/>
          <p:nvPr>
            <p:ph idx="4294967295"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800">
                <a:solidFill>
                  <a:srgbClr val="0F3EA8"/>
                </a:solidFill>
                <a:latin typeface="Nunito"/>
                <a:ea typeface="Nunito"/>
                <a:cs typeface="Nunito"/>
                <a:sym typeface="Nunito"/>
              </a:rPr>
              <a:t>Azure App service creation</a:t>
            </a:r>
            <a:endParaRPr b="1" sz="1800">
              <a:solidFill>
                <a:srgbClr val="0F3EA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p62"/>
          <p:cNvSpPr/>
          <p:nvPr/>
        </p:nvSpPr>
        <p:spPr>
          <a:xfrm>
            <a:off x="1152600" y="1208850"/>
            <a:ext cx="68388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(Put the screenshots 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details during Azure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 App Service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creation here)</a:t>
            </a:r>
            <a:endParaRPr b="0" i="0" sz="1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1" name="Google Shape;361;p63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62" name="Google Shape;362;p63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63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4" name="Google Shape;364;p63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Step 3: Project Architecture</a:t>
            </a:r>
            <a:endParaRPr b="1" sz="2600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4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Architecture: Folder Structure</a:t>
            </a:r>
            <a:endParaRPr b="1" sz="22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0" name="Google Shape;370;p64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(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This section should include screenshots of the project folder structure and a brief description of each folder and its purpose.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)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5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Architecture: Component Interaction</a:t>
            </a:r>
            <a:endParaRPr b="1" sz="22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6" name="Google Shape;376;p65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section should include a diagram and an explanation of how the components within the project folder structure interact with each other.</a:t>
            </a: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)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6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Configure</a:t>
            </a:r>
            <a:r>
              <a:rPr b="1" lang="en" sz="1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 ‘.env’</a:t>
            </a:r>
            <a:endParaRPr b="1" sz="22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2" name="Google Shape;382;p66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section should include a screenshot of the credentials that need to be configured in the </a:t>
            </a:r>
            <a:r>
              <a:rPr lang="en">
                <a:solidFill>
                  <a:srgbClr val="188038"/>
                </a:solidFill>
                <a:latin typeface="Nunito"/>
                <a:ea typeface="Nunito"/>
                <a:cs typeface="Nunito"/>
                <a:sym typeface="Nunito"/>
              </a:rPr>
              <a:t>.env</a:t>
            </a: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file, along with a brief description of each.</a:t>
            </a: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)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8" name="Google Shape;388;p67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389" name="Google Shape;389;p67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67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1" name="Google Shape;391;p67"/>
          <p:cNvSpPr txBox="1"/>
          <p:nvPr/>
        </p:nvSpPr>
        <p:spPr>
          <a:xfrm>
            <a:off x="502350" y="2371650"/>
            <a:ext cx="813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Step 4: Running the Application</a:t>
            </a:r>
            <a:br>
              <a:rPr b="1" lang="en" sz="2600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500">
                <a:solidFill>
                  <a:srgbClr val="0F3EA8"/>
                </a:solidFill>
                <a:latin typeface="Montserrat"/>
                <a:ea typeface="Montserrat"/>
                <a:cs typeface="Montserrat"/>
                <a:sym typeface="Montserrat"/>
              </a:rPr>
              <a:t>(Data Ingestion → Application → Evaluation)</a:t>
            </a:r>
            <a:endParaRPr sz="1500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8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4.1 Data Ingestion Execution</a:t>
            </a:r>
            <a:endParaRPr b="1" sz="22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7" name="Google Shape;397;p68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section should describe how to execute the data ingestion process and include a screenshot of the output</a:t>
            </a: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)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9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4.2 Running the Streamlit Application</a:t>
            </a:r>
            <a:endParaRPr b="1" sz="22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3" name="Google Shape;403;p69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section should describe how to execute the Streamlit application and include a screenshot of the output UI</a:t>
            </a: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)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0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4.2 Running RAGAS Evaluation</a:t>
            </a:r>
            <a:endParaRPr b="1" sz="22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9" name="Google Shape;409;p70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(</a:t>
            </a: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This section should describe how to run a RAGAS evaluation to assess the performance of the RAG system, explain the evaluation metrics, and include a screenshot of the output</a:t>
            </a:r>
            <a:r>
              <a:rPr lang="en">
                <a:latin typeface="Nunito Medium"/>
                <a:ea typeface="Nunito Medium"/>
                <a:cs typeface="Nunito Medium"/>
                <a:sym typeface="Nunito Medium"/>
              </a:rPr>
              <a:t>)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9484" y="68264"/>
            <a:ext cx="1395475" cy="5726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71"/>
          <p:cNvGrpSpPr/>
          <p:nvPr/>
        </p:nvGrpSpPr>
        <p:grpSpPr>
          <a:xfrm>
            <a:off x="6592" y="8"/>
            <a:ext cx="175895" cy="709320"/>
            <a:chOff x="6592" y="8"/>
            <a:chExt cx="175895" cy="709320"/>
          </a:xfrm>
        </p:grpSpPr>
        <p:sp>
          <p:nvSpPr>
            <p:cNvPr id="416" name="Google Shape;416;p71"/>
            <p:cNvSpPr/>
            <p:nvPr/>
          </p:nvSpPr>
          <p:spPr>
            <a:xfrm>
              <a:off x="6592" y="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0D37A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71"/>
            <p:cNvSpPr/>
            <p:nvPr/>
          </p:nvSpPr>
          <p:spPr>
            <a:xfrm>
              <a:off x="6592" y="353728"/>
              <a:ext cx="175895" cy="355600"/>
            </a:xfrm>
            <a:custGeom>
              <a:rect b="b" l="l" r="r" t="t"/>
              <a:pathLst>
                <a:path extrusionOk="0" h="355600" w="175895">
                  <a:moveTo>
                    <a:pt x="175497" y="355497"/>
                  </a:moveTo>
                  <a:lnTo>
                    <a:pt x="0" y="355497"/>
                  </a:lnTo>
                  <a:lnTo>
                    <a:pt x="0" y="0"/>
                  </a:lnTo>
                  <a:lnTo>
                    <a:pt x="175497" y="0"/>
                  </a:lnTo>
                  <a:lnTo>
                    <a:pt x="175497" y="355497"/>
                  </a:lnTo>
                  <a:close/>
                </a:path>
              </a:pathLst>
            </a:custGeom>
            <a:solidFill>
              <a:srgbClr val="1873D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8" name="Google Shape;418;p71"/>
          <p:cNvSpPr txBox="1"/>
          <p:nvPr/>
        </p:nvSpPr>
        <p:spPr>
          <a:xfrm>
            <a:off x="502350" y="2371650"/>
            <a:ext cx="813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Conclusion : Key Takeaways and Business Outcomes</a:t>
            </a:r>
            <a:endParaRPr b="1" sz="2600">
              <a:solidFill>
                <a:srgbClr val="0F3E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2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Write the Key Takeaways here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4" name="Google Shape;424;p7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E39A9"/>
                </a:solidFill>
              </a:rPr>
              <a:t>Key Takeaways</a:t>
            </a:r>
            <a:endParaRPr sz="1800">
              <a:solidFill>
                <a:srgbClr val="0E39A9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3"/>
          <p:cNvSpPr/>
          <p:nvPr/>
        </p:nvSpPr>
        <p:spPr>
          <a:xfrm>
            <a:off x="1063800" y="1208850"/>
            <a:ext cx="7016400" cy="27258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Write the Expected Business Impact here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0" name="Google Shape;430;p7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E39A9"/>
                </a:solidFill>
              </a:rPr>
              <a:t>Expected Business Impact</a:t>
            </a:r>
            <a:endParaRPr sz="1800">
              <a:solidFill>
                <a:srgbClr val="0E39A9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4"/>
          <p:cNvSpPr txBox="1"/>
          <p:nvPr/>
        </p:nvSpPr>
        <p:spPr>
          <a:xfrm>
            <a:off x="163750" y="2192549"/>
            <a:ext cx="3842100" cy="7584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28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